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do TP06: aplicação com dois agentes, uma ferramenta @tool, LangGraph e LLM gratuito do Groq.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verificador não é um terceiro agente: é um nó determinístico que usa a ferramenta. O trabalho mantém dois agentes com LLM.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Saída real obtida na execução do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calculados com a mesma fórmula da ferramenta do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correção reforça a colaboração: o resultado do Consultor passa a alimentar outra etapa, que o valida.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812800"/>
            <a:ext cx="1056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600" dirty="0">
                <a:solidFill>
                  <a:srgbClr val="F4F1E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620520"/>
            <a:ext cx="10566400" cy="442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F4F1E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812800"/>
            <a:ext cx="1056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600" dirty="0">
                <a:solidFill>
                  <a:srgbClr val="F4F1E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620520"/>
            <a:ext cx="10566400" cy="442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F4F1E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2B84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GCC128 — Inteligência Artificial · UFLA · Trabalho Prático 06</a:t>
            </a:r>
            <a:endParaRPr lang="en-US" sz="14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251710"/>
            <a:ext cx="10883392" cy="1305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4800" b="1" i="0" dirty="0">
                <a:solidFill>
                  <a:srgbClr val="F4F1E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Assistente de Avaliação de Acessibilidade Web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12800" y="3735070"/>
            <a:ext cx="108833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9D3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Agentes inteligentes com LangGraph e Groq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12800" y="528066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4F1E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Anderson Fernandes Barbosa · João Pedro Brites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12800" y="559308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C9D3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Professor: Ahmed Ali Abdalla Esmin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0F1B2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Descrição da aplicação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620520"/>
            <a:ext cx="10883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0F1B2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Dadas a cor do texto e a cor do fundo de um componente, a aplicação mede o contraste, verifica os critérios WCAG e recomenda melhorias.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19150" y="2526030"/>
            <a:ext cx="3373967" cy="1874520"/>
          </a:xfrm>
          <a:prstGeom prst="roundRect">
            <a:avLst>
              <a:gd name="adj" fmla="val 5081"/>
            </a:avLst>
          </a:prstGeom>
          <a:solidFill>
            <a:srgbClr val="FFFFFF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9500" y="2786380"/>
            <a:ext cx="2938865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F5FA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Entrada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79500" y="3149600"/>
            <a:ext cx="2938865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0F1B2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Duas cores HEX e o nome do componente. Exemplo: texto #FFFFFF sobre fundo #777777 em um botão.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09017" y="2526030"/>
            <a:ext cx="3373967" cy="1874520"/>
          </a:xfrm>
          <a:prstGeom prst="roundRect">
            <a:avLst>
              <a:gd name="adj" fmla="val 5081"/>
            </a:avLst>
          </a:prstGeom>
          <a:solidFill>
            <a:srgbClr val="FFFFFF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9367" y="2786380"/>
            <a:ext cx="2938865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F5FA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Processamento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669367" y="3149600"/>
            <a:ext cx="2938865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0F1B2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Cálculo determinístico do contraste, diagnóstico técnico, recomendações de UX e verificação das cores sugeridas.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998883" y="2526030"/>
            <a:ext cx="3373967" cy="1874520"/>
          </a:xfrm>
          <a:prstGeom prst="roundRect">
            <a:avLst>
              <a:gd name="adj" fmla="val 5081"/>
            </a:avLst>
          </a:prstGeom>
          <a:solidFill>
            <a:srgbClr val="FFFFFF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59233" y="2786380"/>
            <a:ext cx="2938865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F5FA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Saída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59233" y="3149600"/>
            <a:ext cx="2938865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0F1B2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Relatório com a razão medida, a avaliação AA e AAA para texto normal e grande, e ações práticas com cores verificadas.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Python · LangGraph · Groq (modelo openai/gpt-oss-120b, plano gratuito) · função com @tool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F4F1E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Desenho dos agentes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2800" y="1852930"/>
            <a:ext cx="1352232" cy="1005840"/>
          </a:xfrm>
          <a:prstGeom prst="roundRect">
            <a:avLst>
              <a:gd name="adj" fmla="val 10101"/>
            </a:avLst>
          </a:prstGeom>
          <a:solidFill>
            <a:srgbClr val="1B2A41"/>
          </a:solidFill>
          <a:ln/>
        </p:spPr>
      </p:sp>
      <p:sp>
        <p:nvSpPr>
          <p:cNvPr id="4" name="Text 2"/>
          <p:cNvSpPr/>
          <p:nvPr/>
        </p:nvSpPr>
        <p:spPr>
          <a:xfrm>
            <a:off x="965200" y="2005330"/>
            <a:ext cx="109823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C9D3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Entrada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65200" y="2310130"/>
            <a:ext cx="1098232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Cores e componente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241233" y="2160270"/>
            <a:ext cx="33528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dirty="0">
                <a:solidFill>
                  <a:srgbClr val="F2B84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→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606358" y="1744345"/>
            <a:ext cx="2025862" cy="1223010"/>
          </a:xfrm>
          <a:prstGeom prst="roundRect">
            <a:avLst>
              <a:gd name="adj" fmla="val 7529"/>
            </a:avLst>
          </a:prstGeom>
          <a:solidFill>
            <a:srgbClr val="1B2A41"/>
          </a:solidFill>
          <a:ln w="19050">
            <a:solidFill>
              <a:srgbClr val="F2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68283" y="1906270"/>
            <a:ext cx="175307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2B84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Agente 1: Auditor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768283" y="2211070"/>
            <a:ext cx="175307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Aciona a @tool avaliar_contraste e interpreta o resultado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717944" y="2160270"/>
            <a:ext cx="33528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dirty="0">
                <a:solidFill>
                  <a:srgbClr val="F2B84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083069" y="1630045"/>
            <a:ext cx="2025862" cy="1451610"/>
          </a:xfrm>
          <a:prstGeom prst="roundRect">
            <a:avLst>
              <a:gd name="adj" fmla="val 6343"/>
            </a:avLst>
          </a:prstGeom>
          <a:solidFill>
            <a:srgbClr val="1B2A41"/>
          </a:solidFill>
          <a:ln w="19050">
            <a:solidFill>
              <a:srgbClr val="5BA8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44994" y="1791970"/>
            <a:ext cx="1753072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5BA8E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Agente 2: Consultor UX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244994" y="2325370"/>
            <a:ext cx="175307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Explica o impacto e sugere novas cores em formato padronizado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194655" y="2160270"/>
            <a:ext cx="33528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dirty="0">
                <a:solidFill>
                  <a:srgbClr val="F2B84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559780" y="1744345"/>
            <a:ext cx="2025862" cy="1223010"/>
          </a:xfrm>
          <a:prstGeom prst="roundRect">
            <a:avLst>
              <a:gd name="adj" fmla="val 7529"/>
            </a:avLst>
          </a:prstGeom>
          <a:solidFill>
            <a:srgbClr val="1B2A41"/>
          </a:solidFill>
          <a:ln w="19050">
            <a:solidFill>
              <a:srgbClr val="F4F1EA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7721705" y="1906270"/>
            <a:ext cx="175307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4F1E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Nó Verificador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721705" y="2211070"/>
            <a:ext cx="175307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Recalcula cada cor sugerida com a mesma @tool, sem LLM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671368" y="2160270"/>
            <a:ext cx="33528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dirty="0">
                <a:solidFill>
                  <a:srgbClr val="F2B84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026968" y="1852930"/>
            <a:ext cx="1352232" cy="1005840"/>
          </a:xfrm>
          <a:prstGeom prst="roundRect">
            <a:avLst>
              <a:gd name="adj" fmla="val 10101"/>
            </a:avLst>
          </a:prstGeom>
          <a:solidFill>
            <a:srgbClr val="1B2A41"/>
          </a:solidFill>
          <a:ln/>
        </p:spPr>
      </p:sp>
      <p:sp>
        <p:nvSpPr>
          <p:cNvPr id="20" name="Text 18"/>
          <p:cNvSpPr/>
          <p:nvPr/>
        </p:nvSpPr>
        <p:spPr>
          <a:xfrm>
            <a:off x="10179368" y="2005330"/>
            <a:ext cx="109823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C9D3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Relatório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179368" y="2310130"/>
            <a:ext cx="1098232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Medições verificadas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12800" y="3395980"/>
            <a:ext cx="10566400" cy="1169670"/>
          </a:xfrm>
          <a:prstGeom prst="roundRect">
            <a:avLst>
              <a:gd name="adj" fmla="val 8686"/>
            </a:avLst>
          </a:prstGeom>
          <a:solidFill>
            <a:srgbClr val="1B2A41"/>
          </a:solidFill>
          <a:ln/>
        </p:spPr>
      </p:sp>
      <p:sp>
        <p:nvSpPr>
          <p:cNvPr id="23" name="Text 21"/>
          <p:cNvSpPr/>
          <p:nvPr/>
        </p:nvSpPr>
        <p:spPr>
          <a:xfrm>
            <a:off x="1016000" y="3599180"/>
            <a:ext cx="1046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2B84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Colaboração no LangGraph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016000" y="3916680"/>
            <a:ext cx="10464800" cy="471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F4F1E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Grafo: START → auditor → consultor_ux → verificador → END. A comunicação é feita pelo estado compartilhado (TypedDict): resultado_ferramenta → analise_auditor → recomendacao_consultor → verificacao_sugestoes.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0F1B2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Código: a ferramenta @tool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569720"/>
            <a:ext cx="5983076" cy="3990340"/>
          </a:xfrm>
          <a:prstGeom prst="roundRect">
            <a:avLst>
              <a:gd name="adj" fmla="val 2546"/>
            </a:avLst>
          </a:prstGeom>
          <a:solidFill>
            <a:srgbClr val="0F1B2D"/>
          </a:solidFill>
          <a:ln/>
        </p:spPr>
        <p:txBody>
          <a:bodyPr wrap="square" lIns="224242" tIns="198842" rIns="59990" bIns="198842" rtlCol="0" anchor="t">
            <a:normAutofit/>
          </a:bodyPr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8FA3B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def _luminancia(cor):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</a:t>
            </a:r>
            <a:r>
              <a:rPr lang="en-US" sz="1200" dirty="0">
                <a:solidFill>
                  <a:srgbClr val="8FA3B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... # sRGB para valor linear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return 0.2126*R + 0.7152*G + 0.0722*B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2B84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@tool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2B84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def avaliar_contraste</a:t>
            </a: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(texto_hex, fundo_hex):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a = _luminancia(texto_hex)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b = _luminancia(fundo_hex)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razao = (max(a,b)+0.05) / (min(a,b)+0.05)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return {</a:t>
            </a:r>
            <a:r>
              <a:rPr lang="en-US" sz="1200" dirty="0">
                <a:solidFill>
                  <a:srgbClr val="5BA8E6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"razao"</a:t>
            </a: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: round(razao, 4),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</a:t>
            </a:r>
            <a:r>
              <a:rPr lang="en-US" sz="1200" dirty="0">
                <a:solidFill>
                  <a:srgbClr val="5BA8E6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"AA_texto_normal"</a:t>
            </a: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: razao &gt;= 4.5,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</a:t>
            </a:r>
            <a:r>
              <a:rPr lang="en-US" sz="1200" dirty="0">
                <a:solidFill>
                  <a:srgbClr val="5BA8E6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"AA_texto_grande"</a:t>
            </a: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: razao &gt;= 3.0, ...}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7005426" y="1576070"/>
            <a:ext cx="4367424" cy="1089660"/>
          </a:xfrm>
          <a:prstGeom prst="roundRect">
            <a:avLst>
              <a:gd name="adj" fmla="val 8741"/>
            </a:avLst>
          </a:prstGeom>
          <a:solidFill>
            <a:srgbClr val="FFFFFF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14976" y="1760220"/>
            <a:ext cx="406677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F5FA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 que faz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214976" y="2052320"/>
            <a:ext cx="4066774" cy="454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Recebe duas cores HEX e devolve a razão de contraste WCAG e se ela atende AA e AAA.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005426" y="2805430"/>
            <a:ext cx="4367424" cy="1304290"/>
          </a:xfrm>
          <a:prstGeom prst="roundRect">
            <a:avLst>
              <a:gd name="adj" fmla="val 7303"/>
            </a:avLst>
          </a:prstGeom>
          <a:solidFill>
            <a:srgbClr val="FFFFFF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4976" y="2989580"/>
            <a:ext cx="406677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F5FA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Como faz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214976" y="3281680"/>
            <a:ext cx="4066774" cy="669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Calcula a luminância de cada cor e aplica (mais claro + 0,05) ÷ (mais escuro + 0,05). Depois compara com 4,5, 3 e 7.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005426" y="4249420"/>
            <a:ext cx="4367424" cy="1304290"/>
          </a:xfrm>
          <a:prstGeom prst="roundRect">
            <a:avLst>
              <a:gd name="adj" fmla="val 7303"/>
            </a:avLst>
          </a:prstGeom>
          <a:solidFill>
            <a:srgbClr val="FFFFFF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14976" y="4433570"/>
            <a:ext cx="406677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F5FA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Por que @tool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214976" y="4725670"/>
            <a:ext cx="4066774" cy="669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 decorador expõe a função como ferramenta, chamada com .invoke(). O cálculo não depende do LLM.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Trecho resumido do notebook (célula da ferramenta)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F4F1E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Código: agentes e grafo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9150" y="1576071"/>
            <a:ext cx="5981700" cy="4013200"/>
          </a:xfrm>
          <a:prstGeom prst="roundRect">
            <a:avLst>
              <a:gd name="adj" fmla="val 2373"/>
            </a:avLst>
          </a:prstGeom>
          <a:solidFill>
            <a:srgbClr val="0A1322"/>
          </a:solidFill>
          <a:ln w="12700">
            <a:solidFill>
              <a:srgbClr val="2C3E5A"/>
            </a:solidFill>
            <a:prstDash val="solid"/>
          </a:ln>
        </p:spPr>
        <p:txBody>
          <a:bodyPr wrap="square" lIns="232452" tIns="207052" rIns="68622" bIns="181652" rtlCol="0" anchor="t">
            <a:normAutofit/>
          </a:bodyPr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2B84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def agente_auditor</a:t>
            </a: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(estado):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resultado = avaliar_contraste.invoke({...})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resposta = llm.invoke([...])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return {</a:t>
            </a:r>
            <a:r>
              <a:rPr lang="en-US" sz="1200" dirty="0">
                <a:solidFill>
                  <a:srgbClr val="5BA8E6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"resultado_ferramenta"</a:t>
            </a: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: resultado,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</a:t>
            </a:r>
            <a:r>
              <a:rPr lang="en-US" sz="1200" dirty="0">
                <a:solidFill>
                  <a:srgbClr val="5BA8E6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"analise_auditor"</a:t>
            </a: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: resposta.content}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grafo = StateGraph(Estado)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grafo.add_node(</a:t>
            </a:r>
            <a:r>
              <a:rPr lang="en-US" sz="1200" dirty="0">
                <a:solidFill>
                  <a:srgbClr val="5BA8E6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"auditor"</a:t>
            </a: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 agente_auditor)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grafo.add_node(</a:t>
            </a:r>
            <a:r>
              <a:rPr lang="en-US" sz="1200" dirty="0">
                <a:solidFill>
                  <a:srgbClr val="5BA8E6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"consultor_ux"</a:t>
            </a: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 agente_consultor)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grafo.add_node(</a:t>
            </a:r>
            <a:r>
              <a:rPr lang="en-US" sz="1200" dirty="0">
                <a:solidFill>
                  <a:srgbClr val="5BA8E6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"verificador"</a:t>
            </a: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 no_verificador)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grafo.add_edge(START, </a:t>
            </a:r>
            <a:r>
              <a:rPr lang="en-US" sz="1200" dirty="0">
                <a:solidFill>
                  <a:srgbClr val="5BA8E6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"auditor"</a:t>
            </a: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)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grafo.add_edge(</a:t>
            </a:r>
            <a:r>
              <a:rPr lang="en-US" sz="1200" dirty="0">
                <a:solidFill>
                  <a:srgbClr val="5BA8E6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"auditor"</a:t>
            </a: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 </a:t>
            </a:r>
            <a:r>
              <a:rPr lang="en-US" sz="1200" dirty="0">
                <a:solidFill>
                  <a:srgbClr val="5BA8E6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"consultor_ux"</a:t>
            </a: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)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grafo.add_edge(</a:t>
            </a:r>
            <a:r>
              <a:rPr lang="en-US" sz="1200" dirty="0">
                <a:solidFill>
                  <a:srgbClr val="5BA8E6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"consultor_ux"</a:t>
            </a: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 </a:t>
            </a:r>
            <a:r>
              <a:rPr lang="en-US" sz="1200" dirty="0">
                <a:solidFill>
                  <a:srgbClr val="5BA8E6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"verificador"</a:t>
            </a: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)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grafo.add_edge(</a:t>
            </a:r>
            <a:r>
              <a:rPr lang="en-US" sz="1200" dirty="0">
                <a:solidFill>
                  <a:srgbClr val="5BA8E6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"verificador"</a:t>
            </a: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 END)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aplicacao = grafo.compile()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7010400" y="1569721"/>
            <a:ext cx="4368800" cy="1291590"/>
          </a:xfrm>
          <a:prstGeom prst="roundRect">
            <a:avLst>
              <a:gd name="adj" fmla="val 7866"/>
            </a:avLst>
          </a:prstGeom>
          <a:solidFill>
            <a:srgbClr val="1B2A41"/>
          </a:solidFill>
          <a:ln/>
        </p:spPr>
      </p:sp>
      <p:sp>
        <p:nvSpPr>
          <p:cNvPr id="5" name="Text 3"/>
          <p:cNvSpPr/>
          <p:nvPr/>
        </p:nvSpPr>
        <p:spPr>
          <a:xfrm>
            <a:off x="7213600" y="1747521"/>
            <a:ext cx="408127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2B84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Agente é uma função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213600" y="2039621"/>
            <a:ext cx="4081272" cy="669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dirty="0">
                <a:solidFill>
                  <a:srgbClr val="F4F1E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Recebe o estado compartilhado e devolve só os campos que preencheu. O LangGraph junta tudo no estado.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010400" y="2988311"/>
            <a:ext cx="4368800" cy="1076960"/>
          </a:xfrm>
          <a:prstGeom prst="roundRect">
            <a:avLst>
              <a:gd name="adj" fmla="val 9434"/>
            </a:avLst>
          </a:prstGeom>
          <a:solidFill>
            <a:srgbClr val="1B2A41"/>
          </a:solidFill>
          <a:ln/>
        </p:spPr>
      </p:sp>
      <p:sp>
        <p:nvSpPr>
          <p:cNvPr id="8" name="Text 6"/>
          <p:cNvSpPr/>
          <p:nvPr/>
        </p:nvSpPr>
        <p:spPr>
          <a:xfrm>
            <a:off x="7213600" y="3166111"/>
            <a:ext cx="408127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2B84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 prompt define o papel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213600" y="3458211"/>
            <a:ext cx="4081272" cy="454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dirty="0">
                <a:solidFill>
                  <a:srgbClr val="F4F1E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 Auditor não recalcula. O Consultor não informa contraste de cores novas.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010400" y="4192271"/>
            <a:ext cx="4368800" cy="1291590"/>
          </a:xfrm>
          <a:prstGeom prst="roundRect">
            <a:avLst>
              <a:gd name="adj" fmla="val 7866"/>
            </a:avLst>
          </a:prstGeom>
          <a:solidFill>
            <a:srgbClr val="1B2A41"/>
          </a:solidFill>
          <a:ln/>
        </p:spPr>
      </p:sp>
      <p:sp>
        <p:nvSpPr>
          <p:cNvPr id="11" name="Text 9"/>
          <p:cNvSpPr/>
          <p:nvPr/>
        </p:nvSpPr>
        <p:spPr>
          <a:xfrm>
            <a:off x="7213600" y="4370071"/>
            <a:ext cx="408127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2B84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 grafo define a ordem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213600" y="4662171"/>
            <a:ext cx="4081272" cy="669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dirty="0">
                <a:solidFill>
                  <a:srgbClr val="F4F1E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Nós são as etapas e arestas são a sequência. compile() gera a aplicação, e invoke(entrada) executa do início ao fim.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D3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Trecho resumido do notebook (células dos agentes e do grafo)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0F1B2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Demonstração: botão Continuar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2800" y="1620521"/>
            <a:ext cx="4996921" cy="2777490"/>
          </a:xfrm>
          <a:prstGeom prst="roundRect">
            <a:avLst>
              <a:gd name="adj" fmla="val 3658"/>
            </a:avLst>
          </a:prstGeom>
          <a:solidFill>
            <a:srgbClr val="0F1B2D"/>
          </a:solidFill>
          <a:ln/>
        </p:spPr>
      </p:sp>
      <p:sp>
        <p:nvSpPr>
          <p:cNvPr id="4" name="Text 2"/>
          <p:cNvSpPr/>
          <p:nvPr/>
        </p:nvSpPr>
        <p:spPr>
          <a:xfrm>
            <a:off x="1117600" y="2277746"/>
            <a:ext cx="45189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C9D3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Texto #FFFFFF · Fundo #777777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17600" y="2628264"/>
            <a:ext cx="4518941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F2B84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4,48:1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1117600" y="3491864"/>
            <a:ext cx="45189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C9D3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Razão medida pela ferramenta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7221" y="1633221"/>
          <a:ext cx="5251979" cy="1917700"/>
        </p:xfrm>
        <a:graphic>
          <a:graphicData uri="http://schemas.openxmlformats.org/drawingml/2006/table">
            <a:tbl>
              <a:tblPr/>
              <a:tblGrid>
                <a:gridCol w="1750660"/>
                <a:gridCol w="1750660"/>
                <a:gridCol w="1750660"/>
              </a:tblGrid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0F1B2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Critério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0F1B2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Mínimo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0F1B2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Resultado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0F1B2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AA, texto normal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0F1B2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4,5:1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0F1B2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Não atende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0F1B2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AA, texto grande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0F1B2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3:1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0F1B2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Atende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94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0F1B2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AAA, texto normal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0F1B2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7:1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0F1B2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Não atende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114521" y="3677921"/>
            <a:ext cx="5422619" cy="745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0F1B2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 Auditor explica o resultado: a cor fica apenas 0,02 abaixo do limiar de texto normal. O Consultor sugere escurecer o fundo e indica novas cores.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F4F1E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Limitação encontrada no Consultor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2800" y="1569721"/>
            <a:ext cx="5883592" cy="2771140"/>
          </a:xfrm>
          <a:prstGeom prst="roundRect">
            <a:avLst>
              <a:gd name="adj" fmla="val 3666"/>
            </a:avLst>
          </a:prstGeom>
          <a:solidFill>
            <a:srgbClr val="1B2A41"/>
          </a:solidFill>
          <a:ln/>
        </p:spPr>
      </p:sp>
      <p:sp>
        <p:nvSpPr>
          <p:cNvPr id="4" name="Text 2"/>
          <p:cNvSpPr/>
          <p:nvPr/>
        </p:nvSpPr>
        <p:spPr>
          <a:xfrm>
            <a:off x="1066800" y="1798321"/>
            <a:ext cx="5536860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2B84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Contraste informado × calculado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9500" y="2181861"/>
          <a:ext cx="5362892" cy="1930400"/>
        </p:xfrm>
        <a:graphic>
          <a:graphicData uri="http://schemas.openxmlformats.org/drawingml/2006/table">
            <a:tbl>
              <a:tblPr/>
              <a:tblGrid>
                <a:gridCol w="1787631"/>
                <a:gridCol w="1787631"/>
                <a:gridCol w="1787631"/>
              </a:tblGrid>
              <a:tr h="38608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4F1E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Cor sugerida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65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65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4F1E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Dito pelo LLM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5A65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65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65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4F1E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Calculado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5A65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65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65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B4F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F4F1E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#6A6A6A / branco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65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F4F1E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4,71:1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65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F4F1E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5,41:1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65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F4F1E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#4D4D4D / branco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F4F1E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7,95:1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F4F1E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8,45:1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F4F1E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#CCCCCC / preto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F4F1E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5,36:1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F4F1E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13,08:1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F4F1E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#A0A0A0 / preto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F4F1E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7,02:1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F4F1E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8,03:1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C58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99593" y="1569721"/>
            <a:ext cx="4479608" cy="1076960"/>
          </a:xfrm>
          <a:prstGeom prst="roundRect">
            <a:avLst>
              <a:gd name="adj" fmla="val 9434"/>
            </a:avLst>
          </a:prstGeom>
          <a:solidFill>
            <a:srgbClr val="1B2A41"/>
          </a:solidFill>
          <a:ln/>
        </p:spPr>
      </p:sp>
      <p:sp>
        <p:nvSpPr>
          <p:cNvPr id="7" name="Text 4"/>
          <p:cNvSpPr/>
          <p:nvPr/>
        </p:nvSpPr>
        <p:spPr>
          <a:xfrm>
            <a:off x="7102793" y="1747521"/>
            <a:ext cx="419540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5BA8E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Causa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102793" y="2039621"/>
            <a:ext cx="4195404" cy="454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dirty="0">
                <a:solidFill>
                  <a:srgbClr val="F4F1E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 Consultor só chamava o LLM e não tinha acesso à ferramenta. Ao sugerir cores, estimou o contraste.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899593" y="2773679"/>
            <a:ext cx="4479608" cy="1291590"/>
          </a:xfrm>
          <a:prstGeom prst="roundRect">
            <a:avLst>
              <a:gd name="adj" fmla="val 7866"/>
            </a:avLst>
          </a:prstGeom>
          <a:solidFill>
            <a:srgbClr val="1B2A41"/>
          </a:solidFill>
          <a:ln/>
        </p:spPr>
      </p:sp>
      <p:sp>
        <p:nvSpPr>
          <p:cNvPr id="10" name="Text 7"/>
          <p:cNvSpPr/>
          <p:nvPr/>
        </p:nvSpPr>
        <p:spPr>
          <a:xfrm>
            <a:off x="7102793" y="2951479"/>
            <a:ext cx="419540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5BA8E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Impacto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102793" y="3243579"/>
            <a:ext cx="4195404" cy="669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dirty="0">
                <a:solidFill>
                  <a:srgbClr val="F4F1E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Números com aparência precisa, mas incorretos. A colaboração entre os agentes não garantia a verificação.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0F1B2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Melhoria: nó verificador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569721"/>
            <a:ext cx="5983076" cy="2546350"/>
          </a:xfrm>
          <a:prstGeom prst="roundRect">
            <a:avLst>
              <a:gd name="adj" fmla="val 3990"/>
            </a:avLst>
          </a:prstGeom>
          <a:solidFill>
            <a:srgbClr val="0F1B2D"/>
          </a:solidFill>
          <a:ln/>
        </p:spPr>
        <p:txBody>
          <a:bodyPr wrap="square" lIns="224242" tIns="198842" rIns="59990" bIns="198842" rtlCol="0" anchor="t">
            <a:normAutofit/>
          </a:bodyPr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2B84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def no_verificador</a:t>
            </a: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(estado):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pares = PADRAO_SUGESTAO.findall(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estado[</a:t>
            </a:r>
            <a:r>
              <a:rPr lang="en-US" sz="1200" dirty="0">
                <a:solidFill>
                  <a:srgbClr val="5BA8E6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"recomendacao_consultor"</a:t>
            </a: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])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verificacoes = [avaliar_contraste.invoke(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{</a:t>
            </a:r>
            <a:r>
              <a:rPr lang="en-US" sz="1200" dirty="0">
                <a:solidFill>
                  <a:srgbClr val="5BA8E6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"texto_hex"</a:t>
            </a: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: t, </a:t>
            </a:r>
            <a:r>
              <a:rPr lang="en-US" sz="1200" dirty="0">
                <a:solidFill>
                  <a:srgbClr val="5BA8E6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"fundo_hex"</a:t>
            </a: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: f})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for t, f in dict.fromkeys(pares)]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return {</a:t>
            </a:r>
            <a:r>
              <a:rPr lang="en-US" sz="1200" dirty="0">
                <a:solidFill>
                  <a:srgbClr val="5BA8E6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"verificacao_sugestoes"</a:t>
            </a:r>
            <a:r>
              <a:rPr lang="en-US" sz="1200" dirty="0">
                <a:solidFill>
                  <a:srgbClr val="F4F1E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: verificacoes}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7005426" y="1576071"/>
            <a:ext cx="4367424" cy="1304290"/>
          </a:xfrm>
          <a:prstGeom prst="roundRect">
            <a:avLst>
              <a:gd name="adj" fmla="val 7303"/>
            </a:avLst>
          </a:prstGeom>
          <a:solidFill>
            <a:srgbClr val="FFFFFF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14976" y="1760221"/>
            <a:ext cx="406677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F5FA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 que mudou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214976" y="2052321"/>
            <a:ext cx="4066774" cy="669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 Consultor passa a sugerir cores em linhas SUGESTAO: texto=#… fundo=#…, sem informar contraste.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005426" y="3020061"/>
            <a:ext cx="4367424" cy="1089660"/>
          </a:xfrm>
          <a:prstGeom prst="roundRect">
            <a:avLst>
              <a:gd name="adj" fmla="val 8741"/>
            </a:avLst>
          </a:prstGeom>
          <a:solidFill>
            <a:srgbClr val="FFFFFF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4976" y="3204211"/>
            <a:ext cx="406677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F5FA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Como funciona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214976" y="3496311"/>
            <a:ext cx="4066774" cy="454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 verificador extrai os pares com regex e chama avaliar_contraste para cada um.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9150" y="4376421"/>
            <a:ext cx="10553700" cy="1089660"/>
          </a:xfrm>
          <a:prstGeom prst="roundRect">
            <a:avLst>
              <a:gd name="adj" fmla="val 8741"/>
            </a:avLst>
          </a:prstGeom>
          <a:solidFill>
            <a:srgbClr val="FFFFFF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8700" y="4560571"/>
            <a:ext cx="1043863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F5FA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Conceitos de agentes aplicados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28700" y="4852671"/>
            <a:ext cx="10438638" cy="454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ferramenta é a fonte de verdade e o LLM interpreta e sugere. Cada etapa tem um papel definido, e o estado compartilhado liga as etapas. As saídas do LLM passam por verificação.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F4F1E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Conclusões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2800" y="1620521"/>
            <a:ext cx="3386667" cy="2358390"/>
          </a:xfrm>
          <a:prstGeom prst="roundRect">
            <a:avLst>
              <a:gd name="adj" fmla="val 4308"/>
            </a:avLst>
          </a:prstGeom>
          <a:solidFill>
            <a:srgbClr val="1B2A41"/>
          </a:solidFill>
          <a:ln/>
        </p:spPr>
      </p:sp>
      <p:sp>
        <p:nvSpPr>
          <p:cNvPr id="4" name="Text 2"/>
          <p:cNvSpPr/>
          <p:nvPr/>
        </p:nvSpPr>
        <p:spPr>
          <a:xfrm>
            <a:off x="1066800" y="1874521"/>
            <a:ext cx="2965027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2B84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 que funcionou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66800" y="2250442"/>
            <a:ext cx="2965027" cy="985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4F1E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divisão de papéis ficou clara: a ferramenta calcula, o Auditor interpreta e o Consultor transforma o diagnóstico em ações.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402667" y="1620521"/>
            <a:ext cx="3386667" cy="2358390"/>
          </a:xfrm>
          <a:prstGeom prst="roundRect">
            <a:avLst>
              <a:gd name="adj" fmla="val 4308"/>
            </a:avLst>
          </a:prstGeom>
          <a:solidFill>
            <a:srgbClr val="1B2A41"/>
          </a:solidFill>
          <a:ln/>
        </p:spPr>
      </p:sp>
      <p:sp>
        <p:nvSpPr>
          <p:cNvPr id="7" name="Text 5"/>
          <p:cNvSpPr/>
          <p:nvPr/>
        </p:nvSpPr>
        <p:spPr>
          <a:xfrm>
            <a:off x="4656667" y="1874521"/>
            <a:ext cx="2965027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5BA8E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 que aprendemos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656667" y="2250442"/>
            <a:ext cx="2965027" cy="1225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4F1E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Um LLM sem ferramenta estima números e erra com confiança. Isolamos a causa, adicionamos o nó verificador e passamos a calcular as cores sugeridas.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992533" y="1620521"/>
            <a:ext cx="3386667" cy="2358390"/>
          </a:xfrm>
          <a:prstGeom prst="roundRect">
            <a:avLst>
              <a:gd name="adj" fmla="val 4308"/>
            </a:avLst>
          </a:prstGeom>
          <a:solidFill>
            <a:srgbClr val="1B2A41"/>
          </a:solidFill>
          <a:ln/>
        </p:spPr>
      </p:sp>
      <p:sp>
        <p:nvSpPr>
          <p:cNvPr id="10" name="Text 8"/>
          <p:cNvSpPr/>
          <p:nvPr/>
        </p:nvSpPr>
        <p:spPr>
          <a:xfrm>
            <a:off x="8246533" y="1874521"/>
            <a:ext cx="2965027" cy="574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2B84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Limites e próximos passos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46533" y="2524758"/>
            <a:ext cx="2965027" cy="1225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4F1E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Só avalia contraste de texto. O verificador depende de o Consultor seguir o formato SUGESTAO. Próximo passo: deixar o LLM decidir quando chamar a ferramenta.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B8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451100"/>
            <a:ext cx="10883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40"/>
              </a:lnSpc>
              <a:buNone/>
            </a:pPr>
            <a:r>
              <a:rPr lang="en-US" sz="4400" b="1" i="0" dirty="0">
                <a:solidFill>
                  <a:srgbClr val="0F1B2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Vídeo de apresentação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12800" y="3319779"/>
            <a:ext cx="10883392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dirty="0">
                <a:solidFill>
                  <a:srgbClr val="0F1B2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[colar aqui o link do vídeo]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12800" y="39370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0F1B2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Anderson Fernandes Barbosa · João Pedro Brites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P06 — Assistente de Acessibilidade (Agentes Inteligentes)">
  <a:themeElements>
    <a:clrScheme name="TP06 — Assistente de Acessibilidade (Agentes Inteligentes)">
      <a:dk1>
        <a:srgbClr val="0F1B2D"/>
      </a:dk1>
      <a:lt1>
        <a:srgbClr val="F4F1EA"/>
      </a:lt1>
      <a:dk2>
        <a:srgbClr val="263040"/>
      </a:dk2>
      <a:lt2>
        <a:srgbClr val="BBBCBB"/>
      </a:lt2>
      <a:accent1>
        <a:srgbClr val="F2B84B"/>
      </a:accent1>
      <a:accent2>
        <a:srgbClr val="1F5FA8"/>
      </a:accent2>
      <a:accent3>
        <a:srgbClr val="5BA8E6"/>
      </a:accent3>
      <a:accent4>
        <a:srgbClr val="C9D3E0"/>
      </a:accent4>
      <a:accent5>
        <a:srgbClr val="4A5568"/>
      </a:accent5>
      <a:accent6>
        <a:srgbClr val="9AA0A6"/>
      </a:accent6>
      <a:hlink>
        <a:srgbClr val="0563C1"/>
      </a:hlink>
      <a:folHlink>
        <a:srgbClr val="954F72"/>
      </a:folHlink>
    </a:clrScheme>
    <a:fontScheme name="TP06 — Assistente de Acessibilidade (Agentes Inteligentes)">
      <a:majorFont>
        <a:latin typeface="Helvetic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elvetic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TP06 — Assistente de Acessibilidade (Agentes Inteligentes)</dc:title>
  <dc:subject/>
  <dc:creator/>
  <cp:lastModifiedBy/>
  <cp:revision>1</cp:revision>
  <dcterms:created xsi:type="dcterms:W3CDTF">2026-10-14T18:00:28Z</dcterms:created>
  <dcterms:modified xsi:type="dcterms:W3CDTF">2026-10-14T18:00:28Z</dcterms:modified>
</cp:coreProperties>
</file>
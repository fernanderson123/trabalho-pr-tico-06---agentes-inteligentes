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TP06: aplicação com dois agentes, uma ferramenta @tool, LangGraph e LLM gratuito do Groq.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ferramenta é chamada por código em toda avaliação, garantindo que o contraste seja sempre calculado. Os LLMs só interpretam e recomendam.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 real obtida na execução do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GCC128 — Inteligência Artificial · UFLA · Trabalho Prático 06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5171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Assistente de Avaliação de Acessibilidade Web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73507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 inteligentes com LangGraph e Groq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2806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Anderson Fernandes Barbosa · João Pedro Brites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5930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Professor: Ahmed Ali Abdalla Esmin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Descrição da aplicação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Dadas a cor do texto e a cor do fundo de um componente, a aplicação mede o contraste, verifica os critérios WCAG e recomenda melhorias.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2526030"/>
            <a:ext cx="3373967" cy="1874520"/>
          </a:xfrm>
          <a:prstGeom prst="roundRect">
            <a:avLst>
              <a:gd name="adj" fmla="val 508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786380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Entrada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3149600"/>
            <a:ext cx="293886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Duas cores HEX e o nome do componente. Exemplo: texto #FFFFFF sobre fundo #777777 em um botão.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9017" y="2526030"/>
            <a:ext cx="3373967" cy="1874520"/>
          </a:xfrm>
          <a:prstGeom prst="roundRect">
            <a:avLst>
              <a:gd name="adj" fmla="val 508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67" y="2786380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Processamento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9367" y="3149600"/>
            <a:ext cx="293886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Cálculo determinístico da razão de contraste, diagnóstico técnico e recomendações de UX.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8883" y="2526030"/>
            <a:ext cx="3373967" cy="1874520"/>
          </a:xfrm>
          <a:prstGeom prst="roundRect">
            <a:avLst>
              <a:gd name="adj" fmla="val 508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233" y="2786380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Saída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9233" y="3149600"/>
            <a:ext cx="293886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 com a razão medida, a avaliação AA e AAA para texto normal e grande, e ações práticas.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· LangGraph · Groq (modelo openai/gpt-oss-120b, plano gratuito) · função com @tool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Desenho dos agentes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876425"/>
            <a:ext cx="1872192" cy="1385570"/>
          </a:xfrm>
          <a:prstGeom prst="roundRect">
            <a:avLst>
              <a:gd name="adj" fmla="val 7333"/>
            </a:avLst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2079625"/>
            <a:ext cx="15165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Entrada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2414905"/>
            <a:ext cx="151659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Cores do texto e do fundo, mais o componente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11992" y="2320289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04117" y="1759586"/>
            <a:ext cx="2477558" cy="1619250"/>
          </a:xfrm>
          <a:prstGeom prst="roundRect">
            <a:avLst>
              <a:gd name="adj" fmla="val 5686"/>
            </a:avLst>
          </a:prstGeom>
          <a:solidFill>
            <a:srgbClr val="1B2A41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6842" y="1972311"/>
            <a:ext cx="21136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1: Auditor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16842" y="2307589"/>
            <a:ext cx="211367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Aciona a ferramenta avaliar_contraste (@tool) e interpreta o resultado sem recalcular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18200" y="2320289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10325" y="1630045"/>
            <a:ext cx="2477558" cy="1878330"/>
          </a:xfrm>
          <a:prstGeom prst="roundRect">
            <a:avLst>
              <a:gd name="adj" fmla="val 4902"/>
            </a:avLst>
          </a:prstGeom>
          <a:solidFill>
            <a:srgbClr val="1B2A41"/>
          </a:solidFill>
          <a:ln w="19050">
            <a:solidFill>
              <a:srgbClr val="5BA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3050" y="1842770"/>
            <a:ext cx="2113672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BA8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2: Consultor UX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3050" y="2437130"/>
            <a:ext cx="211367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Recebe medição e diagnóstico, explica o impacto e propõe duas ações práticas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24408" y="2320289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507008" y="1876425"/>
            <a:ext cx="1872192" cy="1385570"/>
          </a:xfrm>
          <a:prstGeom prst="roundRect">
            <a:avLst>
              <a:gd name="adj" fmla="val 7333"/>
            </a:avLst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9710208" y="2079625"/>
            <a:ext cx="15165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710208" y="2414905"/>
            <a:ext cx="151659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Medição, diagnóstico e recomendações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800" y="3822700"/>
            <a:ext cx="10566400" cy="1169670"/>
          </a:xfrm>
          <a:prstGeom prst="roundRect">
            <a:avLst>
              <a:gd name="adj" fmla="val 8686"/>
            </a:avLst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025900"/>
            <a:ext cx="1046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Colaboração no LangGraph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6000" y="4343400"/>
            <a:ext cx="10464800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Grafo: START → auditor → consultor_ux → END. Os agentes se comunicam por um estado compartilhado (TypedDict): resultado_ferramenta → analise_auditor → recomendacao_consultor.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Código: a ferramenta @tool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20"/>
            <a:ext cx="5983076" cy="3990340"/>
          </a:xfrm>
          <a:prstGeom prst="roundRect">
            <a:avLst>
              <a:gd name="adj" fmla="val 2546"/>
            </a:avLst>
          </a:prstGeom>
          <a:solidFill>
            <a:srgbClr val="0F1B2D"/>
          </a:solidFill>
          <a:ln/>
        </p:spPr>
        <p:txBody>
          <a:bodyPr wrap="square" lIns="224242" tIns="198842" rIns="59990" bIns="198842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_luminancia(cor):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8FA3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... # sRGB para valor linear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0.2126*R + 0.7152*G + 0.0722*B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B84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@tool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B84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avaliar_contraste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(texto_hex, fundo_hex):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 = _luminancia(texto_hex)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b = _luminancia(fundo_hex)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razao = (max(a,b)+0.05) / (min(a,b)+0.05)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{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"razao"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round(razao, 4),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"AA_texto_normal"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razao &gt;= 4.5,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"AA_texto_grande"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razao &gt;= 3.0, ...}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005426" y="1576070"/>
            <a:ext cx="4367424" cy="1089660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14976" y="1760220"/>
            <a:ext cx="40667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faz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14976" y="2052320"/>
            <a:ext cx="406677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Recebe duas cores HEX e devolve a razão de contraste WCAG e se ela atende AA e AAA.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05426" y="2805430"/>
            <a:ext cx="4367424" cy="130429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14976" y="2989580"/>
            <a:ext cx="40667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faz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14976" y="3281680"/>
            <a:ext cx="406677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 a luminância de cada cor e aplica (mais claro + 0,05) ÷ (mais escuro + 0,05). Depois compara com 4,5, 3 e 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05426" y="4249420"/>
            <a:ext cx="4367424" cy="1304290"/>
          </a:xfrm>
          <a:prstGeom prst="roundRect">
            <a:avLst>
              <a:gd name="adj" fmla="val 7303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4976" y="4433570"/>
            <a:ext cx="40667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que @tool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14976" y="4725670"/>
            <a:ext cx="406677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decorador expõe a função como ferramenta, chamada com .invoke(). O cálculo não depende do LLM.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Trecho resumido do notebook (célula da ferramenta)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Código: agentes e grafo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9150" y="1576071"/>
            <a:ext cx="5981700" cy="3901440"/>
          </a:xfrm>
          <a:prstGeom prst="roundRect">
            <a:avLst>
              <a:gd name="adj" fmla="val 2441"/>
            </a:avLst>
          </a:prstGeom>
          <a:solidFill>
            <a:srgbClr val="0A1322"/>
          </a:solidFill>
          <a:ln w="12700">
            <a:solidFill>
              <a:srgbClr val="2C3E5A"/>
            </a:solidFill>
            <a:prstDash val="solid"/>
          </a:ln>
        </p:spPr>
        <p:txBody>
          <a:bodyPr wrap="square" lIns="232452" tIns="207052" rIns="68622" bIns="207052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B84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agente_auditor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(estado):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resultado = avaliar_contraste.invoke({...})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resposta = llm.invoke([SystemMessage(...),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   HumanMessage(...)])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{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"resultado_ferramenta"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resultado,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"analise_auditor"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resposta.content}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 = StateGraph(Estado)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grafo.add_node(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"auditor"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agente_auditor)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grafo.add_node(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"consultor_ux"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agente_consultor)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grafo.add_edge(START, 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"auditor"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grafo.add_edge(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"auditor"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"consultor_ux"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grafo.add_edge(</a:t>
            </a:r>
            <a:r>
              <a:rPr lang="en-US" sz="1200" dirty="0">
                <a:solidFill>
                  <a:srgbClr val="5BA8E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"consultor_ux"</a:t>
            </a: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END)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aplicacao = grafo.compile()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010400" y="1569721"/>
            <a:ext cx="4368800" cy="1291590"/>
          </a:xfrm>
          <a:prstGeom prst="roundRect">
            <a:avLst>
              <a:gd name="adj" fmla="val 7866"/>
            </a:avLst>
          </a:prstGeom>
          <a:solidFill>
            <a:srgbClr val="1B2A41"/>
          </a:solidFill>
          <a:ln/>
        </p:spPr>
      </p:sp>
      <p:sp>
        <p:nvSpPr>
          <p:cNvPr id="5" name="Text 3"/>
          <p:cNvSpPr/>
          <p:nvPr/>
        </p:nvSpPr>
        <p:spPr>
          <a:xfrm>
            <a:off x="7213600" y="1747521"/>
            <a:ext cx="40812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é uma função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13600" y="2039621"/>
            <a:ext cx="408127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Recebe o estado compartilhado e devolve só os campos que preencheu. O LangGraph junta tudo no estado.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10400" y="2988311"/>
            <a:ext cx="4368800" cy="1076960"/>
          </a:xfrm>
          <a:prstGeom prst="roundRect">
            <a:avLst>
              <a:gd name="adj" fmla="val 9434"/>
            </a:avLst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7213600" y="3166111"/>
            <a:ext cx="40812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prompt define o papel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13600" y="3458211"/>
            <a:ext cx="408127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Auditor é instruído a não recalcular. O Consultor, a não aprovar cor sem calcular.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10400" y="4192271"/>
            <a:ext cx="4368800" cy="1291590"/>
          </a:xfrm>
          <a:prstGeom prst="roundRect">
            <a:avLst>
              <a:gd name="adj" fmla="val 7866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13600" y="4370071"/>
            <a:ext cx="40812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grafo define a ordem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13600" y="4662171"/>
            <a:ext cx="408127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Nós são os agentes e arestas são a sequência. compile() gera a aplicação, e invoke(entrada) executa do início ao fim.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Trecho resumido do notebook (células dos agentes e do grafo)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Demonstração: botão Continuar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4996921" cy="2777490"/>
          </a:xfrm>
          <a:prstGeom prst="roundRect">
            <a:avLst>
              <a:gd name="adj" fmla="val 3658"/>
            </a:avLst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277746"/>
            <a:ext cx="45189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Texto #FFFFFF · Fundo #777777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2628264"/>
            <a:ext cx="451894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4,48:1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17600" y="3491864"/>
            <a:ext cx="45189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Razão medida pela ferramenta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7221" y="1633221"/>
          <a:ext cx="5251979" cy="1917700"/>
        </p:xfrm>
        <a:graphic>
          <a:graphicData uri="http://schemas.openxmlformats.org/drawingml/2006/table">
            <a:tbl>
              <a:tblPr/>
              <a:tblGrid>
                <a:gridCol w="1750660"/>
                <a:gridCol w="1750660"/>
                <a:gridCol w="175066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Critério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Mínimo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Resultado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AA, texto normal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4,5:1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Não atende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AA, texto grande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3:1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Atende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AAA, texto normal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7:1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Não atende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14521" y="3677921"/>
            <a:ext cx="542261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Auditor explica o resultado: a cor fica apenas 0,02 abaixo do limiar de texto normal. O Consultor sugere escurecer o fundo e indica novas cores.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Conclusões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3386667" cy="2324100"/>
          </a:xfrm>
          <a:prstGeom prst="roundRect">
            <a:avLst>
              <a:gd name="adj" fmla="val 4372"/>
            </a:avLst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29650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funcionou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50439"/>
            <a:ext cx="2965027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divisão de papéis ficou clara: a ferramenta calcula, o Auditor interpreta e o Consultor transforma o diagnóstico em ações.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67" y="1620521"/>
            <a:ext cx="3386667" cy="2324100"/>
          </a:xfrm>
          <a:prstGeom prst="roundRect">
            <a:avLst>
              <a:gd name="adj" fmla="val 437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4656667" y="1874521"/>
            <a:ext cx="29650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BA8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verificamos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67" y="2250439"/>
            <a:ext cx="2965027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Os números das sugestões do Consultor não vieram da ferramenta. Ao recalculá-los, o contraste de #6A6A6A com branco é 5,41:1, e não 4,71:1 como o LLM afirmou.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33" y="1620521"/>
            <a:ext cx="3386667" cy="2324100"/>
          </a:xfrm>
          <a:prstGeom prst="roundRect">
            <a:avLst>
              <a:gd name="adj" fmla="val 4372"/>
            </a:avLst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33" y="1874521"/>
            <a:ext cx="296502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8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Limites e próximos passos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33" y="2524761"/>
            <a:ext cx="2965027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Avalia só o contraste de texto, não toda a WCAG. Próximo passo: o Consultor chamar a ferramenta para validar cada cor sugerida.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B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51100"/>
            <a:ext cx="1088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Vídeo de apresentação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3319779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[colar aqui o link do vídeo]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937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Anderson Fernandes Barbosa · João Pedro Brites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06 — Assistente de Acessibilidade (Agentes Inteligentes)">
  <a:themeElements>
    <a:clrScheme name="TP06 — Assistente de Acessibilidade (Agentes Inteligentes)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F2B84B"/>
      </a:accent1>
      <a:accent2>
        <a:srgbClr val="1F5FA8"/>
      </a:accent2>
      <a:accent3>
        <a:srgbClr val="5BA8E6"/>
      </a:accent3>
      <a:accent4>
        <a:srgbClr val="C9D3E0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TP06 — Assistente de Acessibilidade (Agentes Inteligentes)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TP06 — Assistente de Acessibilidade (Agentes Inteligentes)</dc:title>
  <dc:subject/>
  <dc:creator/>
  <cp:lastModifiedBy/>
  <cp:revision>1</cp:revision>
  <dcterms:created xsi:type="dcterms:W3CDTF">2026-10-14T10:17:07Z</dcterms:created>
  <dcterms:modified xsi:type="dcterms:W3CDTF">2026-10-14T10:17:07Z</dcterms:modified>
</cp:coreProperties>
</file>